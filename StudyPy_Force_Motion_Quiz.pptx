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6" name="Rectangle 5"/>
          <p:cNvSpPr/>
          <p:nvPr/>
        </p:nvSpPr>
        <p:spPr>
          <a:xfrm>
            <a:off x="3200400" y="6217920"/>
            <a:ext cx="2743200" cy="54864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1828800"/>
            <a:ext cx="8229600" cy="1371600"/>
          </a:xfrm>
          <a:prstGeom prst="rect">
            <a:avLst/>
          </a:prstGeom>
          <a:noFill/>
        </p:spPr>
        <p:txBody>
          <a:bodyPr wrap="square">
            <a:spAutoFit/>
          </a:bodyPr>
          <a:lstStyle/>
          <a:p>
            <a:pPr algn="ctr">
              <a:defRPr sz="6600" b="1">
                <a:solidFill>
                  <a:srgbClr val="FCEBD2"/>
                </a:solidFill>
              </a:defRPr>
            </a:pPr>
            <a:r>
              <a:t>📚 Force &amp; Motion Quiz Zone</a:t>
            </a:r>
          </a:p>
        </p:txBody>
      </p:sp>
      <p:sp>
        <p:nvSpPr>
          <p:cNvPr id="3" name="TextBox 2"/>
          <p:cNvSpPr txBox="1"/>
          <p:nvPr/>
        </p:nvSpPr>
        <p:spPr>
          <a:xfrm>
            <a:off x="457200" y="3383280"/>
            <a:ext cx="8229600" cy="731520"/>
          </a:xfrm>
          <a:prstGeom prst="rect">
            <a:avLst/>
          </a:prstGeom>
          <a:noFill/>
        </p:spPr>
        <p:txBody>
          <a:bodyPr wrap="square">
            <a:spAutoFit/>
          </a:bodyPr>
          <a:lstStyle/>
          <a:p>
            <a:pPr algn="ctr">
              <a:defRPr sz="2400">
                <a:solidFill>
                  <a:srgbClr val="44CAFF"/>
                </a:solidFill>
              </a:defRPr>
            </a:pPr>
            <a:r>
              <a:t>Test Your Knowledge on Balanced &amp; Unbalanced Forces</a:t>
            </a:r>
          </a:p>
        </p:txBody>
      </p:sp>
      <p:sp>
        <p:nvSpPr>
          <p:cNvPr id="4" name="TextBox 3"/>
          <p:cNvSpPr txBox="1"/>
          <p:nvPr/>
        </p:nvSpPr>
        <p:spPr>
          <a:xfrm>
            <a:off x="1828800" y="4572000"/>
            <a:ext cx="6400800" cy="1371600"/>
          </a:xfrm>
          <a:prstGeom prst="rect">
            <a:avLst/>
          </a:prstGeom>
          <a:noFill/>
        </p:spPr>
        <p:txBody>
          <a:bodyPr wrap="square">
            <a:spAutoFit/>
          </a:bodyPr>
          <a:lstStyle/>
          <a:p>
            <a:pPr algn="ctr">
              <a:defRPr sz="2000">
                <a:solidFill>
                  <a:srgbClr val="D3A26F"/>
                </a:solidFill>
              </a:defRPr>
            </a:pPr>
            <a:r>
              <a:t>✅ 25 Questions  •  ⏱️ 90 Seconds Per Question  •  🎯 70% Passing Score</a:t>
            </a:r>
          </a:p>
        </p:txBody>
      </p:sp>
      <p:sp>
        <p:nvSpPr>
          <p:cNvPr id="5" name="TextBox 4"/>
          <p:cNvSpPr txBox="1"/>
          <p:nvPr/>
        </p:nvSpPr>
        <p:spPr>
          <a:xfrm>
            <a:off x="3200400" y="6217920"/>
            <a:ext cx="2743200" cy="548640"/>
          </a:xfrm>
          <a:prstGeom prst="rect">
            <a:avLst/>
          </a:prstGeom>
          <a:noFill/>
        </p:spPr>
        <p:txBody>
          <a:bodyPr wrap="square">
            <a:spAutoFit/>
          </a:bodyPr>
          <a:lstStyle/>
          <a:p>
            <a:pPr algn="ctr">
              <a:defRPr sz="2000" b="1">
                <a:solidFill>
                  <a:srgbClr val="0F0F1A"/>
                </a:solidFill>
              </a:defRPr>
            </a:pPr>
            <a:r>
              <a:t>▶ START QUIZ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If the resultant of all the forces acting on a body is zero, the forces are called:</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Unbalanced forces</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Balanced forces</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Frictional forces</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Gravitational forces</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the resultant (net) force on a body is zero, the forces are called balanced forces. They produce no acceleration on the object.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Which of the following can be changed by a balanced force?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Speed of the object</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Direction of motion</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Shape of the object</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Velocity of the object</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Balanced forces produce zero net force and hence zero acceleration. They cannot change the speed or velocity of an object. However, they can change the shape of an object (deformation) without changing its motion.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3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To accelerate a moving object, we require: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A balanced force</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An unbalanced force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No force</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Internal force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Acceleration is produced only by an unbalanced (net) force. According to Newton's second law, F = ma, where unbalanced force is needed to produce acceleration.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4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In a game of tug-of-war, if the rope does not move, the forces applied are: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Unbalanced</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Balanced</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Zero</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Unequal</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the rope does not move, it means the net force on the rope is zero. This happens when both teams apply equal forces in opposite directions, resulting in balanced forces.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5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What is the net force acting on a book lying stationary on a table?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10 N</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Equal to the weight of the book</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Zero</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Infinite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 stationary object has zero acceleration. By Newton's second law (F = ma), if acceleration is zero, then net force must also be zero. The weight of the book is balanced by the normal force from the 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6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If an object is moving with constant velocity, the net force on it is:</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Positive</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Negative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Zero</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Variable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Constant velocity means zero acceleration. According to Newton's second law, zero acceleration requires zero net force. This is the state of equilibrium where forces are balanced.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7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An unbalanced force acts on an object. Which must change?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Shape</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Mass</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Speed or Direction (Velocity)</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Inertia</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An unbalanced force produces acceleration, which causes a change in velocity (speed or direction). Mass and inertia are intrinsic properties that don't change due to external forces. Shape changes only with specific types of balanced forces.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8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When we squeeze a rubber ball and the shape changes, it is due to:</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Balanced forces</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Unbalanced forces</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Zero force</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Acceleration</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A)</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The deformation (shape change) of the rubber ball occurs due to balanced forces. The squeezing force and the internal resistance of the ball create balanced forces that change the shape without changing the motion of the ball's center of mass.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9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A box is pushed with 10 N but doesn't move. The friction force is:</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Less than 10 N</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More than 10 N</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Exactly 10 N opposite direction</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Zero</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Since the box doesn't move, the net force is zero. This means the static friction force must exactly equal and oppose the applied force of 10 N to maintain equilibrium.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10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Forces always occur in:</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Isolation</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Pairs</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Triplets</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Vacuum</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According to Newton's third law, forces always occur in pairs (action-reaction pairs). If object A exerts a force on object B, then B exerts an equal and opposite force on 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11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Which force is needed to keep a body in uniform motion (no friction)?</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Unbalanced force</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Balanced force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No external force</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Gravitational force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According to Newton's first law, an object in motion continues in motion with constant velocity if no net force acts on it. In the absence of friction, no external force is needed to maintain uniform motion.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12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A car engine applies a force equal to friction. The car will:</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Accelerate</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Decelerate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Move with constant velocity</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Stop</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the driving force equals the friction force, the net force on the car is zero. This results in zero acceleration, and the car moves with constant velocity.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13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The SI unit of Force is:</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kg·m/s</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Newton</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Pascal</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Joule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The SI unit of force is Newton (N), named after Isaac Newton. 1 Newton = 1 kg·m/s². Pascal is the unit of pressure, and Joule is the unit of energy.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14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If you push a wall and it doesn't move, your force is balanced by:</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Wall pushing back</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Gravity</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Floor friction</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Air pressure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A)</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you push a wall and it doesn't move, the wall exerts an equal and opposite reaction force on you (Newton's third law). This is the balanced pair of action-reaction forces.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15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Unbalanced forces can cause an object to:</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Start moving</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Stop moving</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Change direction</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All of the above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D)</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Unbalanced forces produce acceleration, which can cause an object to start moving from rest, stop a moving object, or change its direction of motion. All these are effects of acceleration caused by unbalanced forces.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16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Forces of 5 N and 7 N act in opposite directions. Net force =</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12 N</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2 N</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35 N</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0 N</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forces act in opposite directions, we subtract them: |7 N - 5 N| = 2 N. The net force is 2 N in the direction of the larger force (7 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17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Is the force in #16 balanced or unbalanced?</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Balanced</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Unbalanced</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Neither</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Both</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Since the net force is 2 N (not zero), these forces are unbalanced. Unbalanced forces will cause acceleration in the direction of the net force.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18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When an apple falls from a tree, forces are: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Balanced</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Unbalanced</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Frictional</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Magnetic</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an apple falls, gravitational force (weight) acts downward while air resistance is negligible. These forces are unbalanced, causing the apple to accelerate downward.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19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A cyclist moves at constant speed with 50 N pedaling force. Friction =</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0 N</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25 N</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50 N</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100 N</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At constant speed, acceleration is zero, which means net force is zero. Therefore, friction force must equal the pedaling force of 50 N (in opposite direction) to maintain balanced forces.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20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Which is NOT an effect of force?</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Change speed</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Change shape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Change mass</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Change direction</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C)</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Forces can change speed, shape, and direction of motion. However, forces cannot change the mass of an object. Mass is an intrinsic property that remains constant regardless of applied forces.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21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Balanced forces result in:</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Zero acceleration</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Non-zero acceleration</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Change in velocity</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Momentum change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A)</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Balanced forces produce zero net force, which according to Newton's second law (F = ma) results in zero acceleration. Non-zero acceleration requires unbalanced forces.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22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If a body is under balanced forces, is it always at rest?</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Yes</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No, can move with constant velocity</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No, can accelerate</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Yes, only in vacuum</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Balanced forces result in zero acceleration, but the object can be moving with constant velocity. Newton's first law states that an object in motion continues in motion if no net force acts on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23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Balloon filled with air, pressure pushes equally → example of:</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Unbalanced force</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Balanced force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Gravitational force</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Friction</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When air pressure inside a balloon pushes equally in all directions, the forces are balanced. The balloon maintains its shape because the forces are in equilibrium.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24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A suitcase dropped from height is under:</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Balanced forces</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Unbalanced gravitational force</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Magnetic force</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Zero force</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B)</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A falling suitcase experiences gravitational force downward and negligible air resistance. These unbalanced forces cause the suitcase to accelerate downward.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17" name="Rectangle 16"/>
          <p:cNvSpPr/>
          <p:nvPr/>
        </p:nvSpPr>
        <p:spPr>
          <a:xfrm>
            <a:off x="6035040" y="5943600"/>
            <a:ext cx="2286000" cy="457200"/>
          </a:xfrm>
          <a:prstGeom prst="rect">
            <a:avLst/>
          </a:prstGeom>
          <a:solidFill>
            <a:srgbClr val="D3A26F"/>
          </a:solidFill>
          <a:ln w="254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5943600"/>
            <a:ext cx="2286000" cy="457200"/>
          </a:xfrm>
          <a:prstGeom prst="rect">
            <a:avLst/>
          </a:prstGeom>
          <a:solidFill>
            <a:srgbClr val="44CAFF"/>
          </a:solidFill>
          <a:ln w="25400">
            <a:solidFill>
              <a:srgbClr val="44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5943600"/>
            <a:ext cx="2286000" cy="457200"/>
          </a:xfrm>
          <a:prstGeom prst="rect">
            <a:avLst/>
          </a:prstGeom>
          <a:solidFill>
            <a:srgbClr val="28283C"/>
          </a:solidFill>
          <a:ln w="25400">
            <a:solidFill>
              <a:srgbClr val="FCEB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38912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65760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2608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194560"/>
            <a:ext cx="7589520" cy="640080"/>
          </a:xfrm>
          <a:prstGeom prst="rect">
            <a:avLst/>
          </a:prstGeom>
          <a:solidFill>
            <a:srgbClr val="19192D"/>
          </a:solidFill>
          <a:ln w="12700">
            <a:solidFill>
              <a:srgbClr val="D3A2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274320"/>
            <a:ext cx="8229600" cy="457200"/>
          </a:xfrm>
          <a:prstGeom prst="rect">
            <a:avLst/>
          </a:prstGeom>
          <a:noFill/>
        </p:spPr>
        <p:txBody>
          <a:bodyPr wrap="none">
            <a:spAutoFit/>
          </a:bodyPr>
          <a:lstStyle/>
          <a:p>
            <a:pPr algn="l">
              <a:defRPr sz="1400">
                <a:solidFill>
                  <a:srgbClr val="999999"/>
                </a:solidFill>
              </a:defRPr>
            </a:pPr>
            <a:r>
              <a:t>Question 25 of 25</a:t>
            </a:r>
          </a:p>
        </p:txBody>
      </p:sp>
      <p:sp>
        <p:nvSpPr>
          <p:cNvPr id="3" name="TextBox 2"/>
          <p:cNvSpPr txBox="1"/>
          <p:nvPr/>
        </p:nvSpPr>
        <p:spPr>
          <a:xfrm>
            <a:off x="457200" y="914400"/>
            <a:ext cx="7772400" cy="1097280"/>
          </a:xfrm>
          <a:prstGeom prst="rect">
            <a:avLst/>
          </a:prstGeom>
          <a:noFill/>
        </p:spPr>
        <p:txBody>
          <a:bodyPr wrap="square">
            <a:spAutoFit/>
          </a:bodyPr>
          <a:lstStyle/>
          <a:p>
            <a:pPr>
              <a:lnSpc>
                <a:spcPct val="130000"/>
              </a:lnSpc>
              <a:defRPr sz="2000" b="1">
                <a:solidFill>
                  <a:srgbClr val="FCEBD2"/>
                </a:solidFill>
              </a:defRPr>
            </a:pPr>
            <a:r>
              <a:t>In a free-body diagram, equal arrows opposite direction means:</a:t>
            </a:r>
          </a:p>
        </p:txBody>
      </p:sp>
      <p:sp>
        <p:nvSpPr>
          <p:cNvPr id="4" name="TextBox 3"/>
          <p:cNvSpPr txBox="1"/>
          <p:nvPr/>
        </p:nvSpPr>
        <p:spPr>
          <a:xfrm>
            <a:off x="731520" y="2194560"/>
            <a:ext cx="7315200" cy="640080"/>
          </a:xfrm>
          <a:prstGeom prst="rect">
            <a:avLst/>
          </a:prstGeom>
          <a:noFill/>
        </p:spPr>
        <p:txBody>
          <a:bodyPr wrap="square">
            <a:spAutoFit/>
          </a:bodyPr>
          <a:lstStyle/>
          <a:p>
            <a:pPr>
              <a:defRPr sz="1600">
                <a:solidFill>
                  <a:srgbClr val="E0E0E0"/>
                </a:solidFill>
              </a:defRPr>
            </a:pPr>
            <a:r>
              <a:t>A) Non-equilibrium</a:t>
            </a:r>
          </a:p>
        </p:txBody>
      </p:sp>
      <p:sp>
        <p:nvSpPr>
          <p:cNvPr id="6" name="TextBox 5"/>
          <p:cNvSpPr txBox="1"/>
          <p:nvPr/>
        </p:nvSpPr>
        <p:spPr>
          <a:xfrm>
            <a:off x="731520" y="2926080"/>
            <a:ext cx="7315200" cy="640080"/>
          </a:xfrm>
          <a:prstGeom prst="rect">
            <a:avLst/>
          </a:prstGeom>
          <a:noFill/>
        </p:spPr>
        <p:txBody>
          <a:bodyPr wrap="square">
            <a:spAutoFit/>
          </a:bodyPr>
          <a:lstStyle/>
          <a:p>
            <a:pPr>
              <a:defRPr sz="1600">
                <a:solidFill>
                  <a:srgbClr val="E0E0E0"/>
                </a:solidFill>
              </a:defRPr>
            </a:pPr>
            <a:r>
              <a:t>B) Free fall</a:t>
            </a:r>
          </a:p>
        </p:txBody>
      </p:sp>
      <p:sp>
        <p:nvSpPr>
          <p:cNvPr id="8" name="TextBox 7"/>
          <p:cNvSpPr txBox="1"/>
          <p:nvPr/>
        </p:nvSpPr>
        <p:spPr>
          <a:xfrm>
            <a:off x="731520" y="3657600"/>
            <a:ext cx="7315200" cy="640080"/>
          </a:xfrm>
          <a:prstGeom prst="rect">
            <a:avLst/>
          </a:prstGeom>
          <a:noFill/>
        </p:spPr>
        <p:txBody>
          <a:bodyPr wrap="square">
            <a:spAutoFit/>
          </a:bodyPr>
          <a:lstStyle/>
          <a:p>
            <a:pPr>
              <a:defRPr sz="1600">
                <a:solidFill>
                  <a:srgbClr val="E0E0E0"/>
                </a:solidFill>
              </a:defRPr>
            </a:pPr>
            <a:r>
              <a:t>C) Circular motion</a:t>
            </a:r>
          </a:p>
        </p:txBody>
      </p:sp>
      <p:sp>
        <p:nvSpPr>
          <p:cNvPr id="10" name="TextBox 9"/>
          <p:cNvSpPr txBox="1"/>
          <p:nvPr/>
        </p:nvSpPr>
        <p:spPr>
          <a:xfrm>
            <a:off x="731520" y="4389120"/>
            <a:ext cx="7315200" cy="640080"/>
          </a:xfrm>
          <a:prstGeom prst="rect">
            <a:avLst/>
          </a:prstGeom>
          <a:noFill/>
        </p:spPr>
        <p:txBody>
          <a:bodyPr wrap="square">
            <a:spAutoFit/>
          </a:bodyPr>
          <a:lstStyle/>
          <a:p>
            <a:pPr>
              <a:defRPr sz="1600">
                <a:solidFill>
                  <a:srgbClr val="E0E0E0"/>
                </a:solidFill>
              </a:defRPr>
            </a:pPr>
            <a:r>
              <a:t>D) Equilibrium (Balanced)</a:t>
            </a:r>
          </a:p>
        </p:txBody>
      </p:sp>
      <p:sp>
        <p:nvSpPr>
          <p:cNvPr id="12" name="TextBox 11"/>
          <p:cNvSpPr txBox="1"/>
          <p:nvPr/>
        </p:nvSpPr>
        <p:spPr>
          <a:xfrm>
            <a:off x="914400" y="5943600"/>
            <a:ext cx="2286000" cy="457200"/>
          </a:xfrm>
          <a:prstGeom prst="rect">
            <a:avLst/>
          </a:prstGeom>
          <a:noFill/>
        </p:spPr>
        <p:txBody>
          <a:bodyPr wrap="none">
            <a:spAutoFit/>
          </a:bodyPr>
          <a:lstStyle/>
          <a:p>
            <a:pPr algn="ctr">
              <a:defRPr sz="1200" b="1">
                <a:solidFill>
                  <a:srgbClr val="FCEBD2"/>
                </a:solidFill>
              </a:defRPr>
            </a:pPr>
            <a:r>
              <a:t>👁️ SHOW ANSWER</a:t>
            </a:r>
          </a:p>
        </p:txBody>
      </p:sp>
      <p:sp>
        <p:nvSpPr>
          <p:cNvPr id="14" name="TextBox 13"/>
          <p:cNvSpPr txBox="1"/>
          <p:nvPr/>
        </p:nvSpPr>
        <p:spPr>
          <a:xfrm>
            <a:off x="3474720" y="5943600"/>
            <a:ext cx="2286000" cy="457200"/>
          </a:xfrm>
          <a:prstGeom prst="rect">
            <a:avLst/>
          </a:prstGeom>
          <a:noFill/>
        </p:spPr>
        <p:txBody>
          <a:bodyPr wrap="none">
            <a:spAutoFit/>
          </a:bodyPr>
          <a:lstStyle/>
          <a:p>
            <a:pPr algn="ctr">
              <a:defRPr sz="1200" b="1">
                <a:solidFill>
                  <a:srgbClr val="0F0F1A"/>
                </a:solidFill>
              </a:defRPr>
            </a:pPr>
            <a:r>
              <a:t>🤖 ASK AI</a:t>
            </a:r>
          </a:p>
        </p:txBody>
      </p:sp>
      <p:sp>
        <p:nvSpPr>
          <p:cNvPr id="16" name="TextBox 15"/>
          <p:cNvSpPr txBox="1"/>
          <p:nvPr/>
        </p:nvSpPr>
        <p:spPr>
          <a:xfrm>
            <a:off x="6035040" y="5943600"/>
            <a:ext cx="2286000" cy="457200"/>
          </a:xfrm>
          <a:prstGeom prst="rect">
            <a:avLst/>
          </a:prstGeom>
          <a:noFill/>
        </p:spPr>
        <p:txBody>
          <a:bodyPr wrap="none">
            <a:spAutoFit/>
          </a:bodyPr>
          <a:lstStyle/>
          <a:p>
            <a:pPr algn="ctr">
              <a:defRPr sz="1200" b="1">
                <a:solidFill>
                  <a:srgbClr val="0F0F1A"/>
                </a:solidFill>
              </a:defRPr>
            </a:pPr>
            <a:r>
              <a:t>NEXT ➡️</a:t>
            </a:r>
          </a:p>
        </p:txBody>
      </p:sp>
      <p:sp>
        <p:nvSpPr>
          <p:cNvPr id="18" name="TextBox 17"/>
          <p:cNvSpPr txBox="1"/>
          <p:nvPr/>
        </p:nvSpPr>
        <p:spPr>
          <a:xfrm>
            <a:off x="457200" y="6675120"/>
            <a:ext cx="8229600" cy="731520"/>
          </a:xfrm>
          <a:prstGeom prst="rect">
            <a:avLst/>
          </a:prstGeom>
          <a:noFill/>
        </p:spPr>
        <p:txBody>
          <a:bodyPr wrap="square">
            <a:spAutoFit/>
          </a:bodyPr>
          <a:lstStyle/>
          <a:p>
            <a:pPr>
              <a:defRPr sz="1300" b="1">
                <a:solidFill>
                  <a:srgbClr val="3AFF62"/>
                </a:solidFill>
              </a:defRPr>
            </a:pPr>
            <a:r>
              <a:t>✅ Correct Answer: D)</a:t>
            </a:r>
          </a:p>
        </p:txBody>
      </p:sp>
      <p:sp>
        <p:nvSpPr>
          <p:cNvPr id="19" name="TextBox 18"/>
          <p:cNvSpPr txBox="1"/>
          <p:nvPr/>
        </p:nvSpPr>
        <p:spPr>
          <a:xfrm>
            <a:off x="457200" y="7452360"/>
            <a:ext cx="8229600" cy="731520"/>
          </a:xfrm>
          <a:prstGeom prst="rect">
            <a:avLst/>
          </a:prstGeom>
          <a:noFill/>
        </p:spPr>
        <p:txBody>
          <a:bodyPr wrap="square">
            <a:spAutoFit/>
          </a:bodyPr>
          <a:lstStyle/>
          <a:p>
            <a:pPr>
              <a:lnSpc>
                <a:spcPct val="120000"/>
              </a:lnSpc>
              <a:defRPr sz="1100">
                <a:solidFill>
                  <a:srgbClr val="E0E0E0"/>
                </a:solidFill>
              </a:defRPr>
            </a:pPr>
            <a:r>
              <a:t>💡 In a free-body diagram, when force arrows are equal in magnitude and opposite in direction, it represents balanced forces and equilibrium. The net force is zero and acceleration is zero.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457200" y="1828800"/>
            <a:ext cx="8229600" cy="914400"/>
          </a:xfrm>
          <a:prstGeom prst="rect">
            <a:avLst/>
          </a:prstGeom>
          <a:noFill/>
        </p:spPr>
        <p:txBody>
          <a:bodyPr wrap="none">
            <a:spAutoFit/>
          </a:bodyPr>
          <a:lstStyle/>
          <a:p>
            <a:pPr algn="ctr">
              <a:defRPr sz="5400" b="1">
                <a:solidFill>
                  <a:srgbClr val="FCEBD2"/>
                </a:solidFill>
              </a:defRPr>
            </a:pPr>
            <a:r>
              <a:t>🎉 Quiz Completed!</a:t>
            </a:r>
          </a:p>
        </p:txBody>
      </p:sp>
      <p:sp>
        <p:nvSpPr>
          <p:cNvPr id="3" name="TextBox 2"/>
          <p:cNvSpPr txBox="1"/>
          <p:nvPr/>
        </p:nvSpPr>
        <p:spPr>
          <a:xfrm>
            <a:off x="457200" y="3017520"/>
            <a:ext cx="8229600" cy="731520"/>
          </a:xfrm>
          <a:prstGeom prst="rect">
            <a:avLst/>
          </a:prstGeom>
          <a:noFill/>
        </p:spPr>
        <p:txBody>
          <a:bodyPr wrap="none">
            <a:spAutoFit/>
          </a:bodyPr>
          <a:lstStyle/>
          <a:p>
            <a:pPr algn="ctr">
              <a:defRPr sz="2000">
                <a:solidFill>
                  <a:srgbClr val="D3A26F"/>
                </a:solidFill>
              </a:defRPr>
            </a:pPr>
            <a:r>
              <a:t>Check Your Score on StudyPy Website</a:t>
            </a:r>
          </a:p>
        </p:txBody>
      </p:sp>
      <p:sp>
        <p:nvSpPr>
          <p:cNvPr id="4" name="TextBox 3"/>
          <p:cNvSpPr txBox="1"/>
          <p:nvPr/>
        </p:nvSpPr>
        <p:spPr>
          <a:xfrm>
            <a:off x="1828800" y="4114800"/>
            <a:ext cx="6400800" cy="1828800"/>
          </a:xfrm>
          <a:prstGeom prst="rect">
            <a:avLst/>
          </a:prstGeom>
          <a:noFill/>
        </p:spPr>
        <p:txBody>
          <a:bodyPr wrap="square">
            <a:spAutoFit/>
          </a:bodyPr>
          <a:lstStyle/>
          <a:p>
            <a:pPr algn="ctr">
              <a:lnSpc>
                <a:spcPct val="150000"/>
              </a:lnSpc>
              <a:defRPr sz="1800">
                <a:solidFill>
                  <a:srgbClr val="E0E0E0"/>
                </a:solidFill>
              </a:defRPr>
            </a:pPr>
            <a:r>
              <a:t>✅ All 25 Questions Completed</a:t>
            </a:r>
            <a:br/>
            <a:r>
              <a:t>📊 Detailed Score Analysis</a:t>
            </a:r>
            <a:br/>
            <a:r>
              <a:t>🏆 Performance Report</a:t>
            </a:r>
          </a:p>
        </p:txBody>
      </p:sp>
      <p:sp>
        <p:nvSpPr>
          <p:cNvPr id="5" name="TextBox 4"/>
          <p:cNvSpPr txBox="1"/>
          <p:nvPr/>
        </p:nvSpPr>
        <p:spPr>
          <a:xfrm>
            <a:off x="1371600" y="6400800"/>
            <a:ext cx="6400800" cy="914400"/>
          </a:xfrm>
          <a:prstGeom prst="rect">
            <a:avLst/>
          </a:prstGeom>
          <a:noFill/>
        </p:spPr>
        <p:txBody>
          <a:bodyPr wrap="square">
            <a:spAutoFit/>
          </a:bodyPr>
          <a:lstStyle/>
          <a:p>
            <a:pPr algn="ctr">
              <a:defRPr sz="1600">
                <a:solidFill>
                  <a:srgbClr val="44CAFF"/>
                </a:solidFill>
              </a:defRPr>
            </a:pPr>
            <a:r>
              <a:t>Visit: http://localhost:8000/quiz-force-motion.html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